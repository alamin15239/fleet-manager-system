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58200" y="100584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22792" y="1188720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F6F9FF"/>
                </a:solidFill>
                <a:latin typeface="Aptos"/>
              </a:rPr>
              <a:t>VEHICLES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15400" y="205740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79992" y="2240280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F6F9FF"/>
                </a:solidFill>
                <a:latin typeface="Aptos"/>
              </a:rPr>
              <a:t>MAINTENANCE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108960"/>
            <a:ext cx="2926080" cy="777240"/>
          </a:xfrm>
          <a:prstGeom prst="roundRect">
            <a:avLst>
              <a:gd name="adj" fmla="val 12000"/>
            </a:avLst>
          </a:prstGeom>
          <a:solidFill>
            <a:srgbClr val="274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22792" y="3291840"/>
            <a:ext cx="2606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F6F9FF"/>
                </a:solidFill>
                <a:latin typeface="Aptos"/>
              </a:rPr>
              <a:t>TIRE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416052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27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9992" y="4343400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F6F9FF"/>
                </a:solidFill>
                <a:latin typeface="Aptos"/>
              </a:rPr>
              <a:t>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58368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35D3CD"/>
                </a:solidFill>
                <a:latin typeface="Aptos"/>
              </a:rPr>
              <a:t>STARTUP PITCH •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6858000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4200" b="1">
                <a:solidFill>
                  <a:srgbClr val="F6F9FF"/>
                </a:solidFill>
                <a:latin typeface="Aptos"/>
              </a:rPr>
              <a:t>Fleet Manager
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612648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200" b="0">
                <a:solidFill>
                  <a:srgbClr val="ABBBD1"/>
                </a:solidFill>
                <a:latin typeface="Aptos"/>
              </a:rPr>
              <a:t>One workspace for fleet maintenance and operational records.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97680"/>
            <a:ext cx="1143000" cy="54864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6F9FF"/>
                </a:solidFill>
                <a:latin typeface="Aptos"/>
              </a:rPr>
              <a:t>Founder: Alamin Khan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47488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35D3CD"/>
                </a:solidFill>
                <a:latin typeface="Aptos"/>
              </a:rPr>
              <a:t>fleetinspections.tech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6364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00" b="1">
                <a:solidFill>
                  <a:srgbClr val="ABBBD1"/>
                </a:solidFill>
                <a:latin typeface="Aptos"/>
              </a:rPr>
              <a:t>EARLY-STAGE • PRE-REVENUE • CUSTOMER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The operating problem we want to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2120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500" b="1">
                <a:solidFill>
                  <a:srgbClr val="F6F9FF"/>
                </a:solidFill>
                <a:latin typeface="Aptos"/>
              </a:rPr>
              <a:t>Operational records can be fragmented.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52928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743200"/>
            <a:ext cx="53035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0">
                <a:solidFill>
                  <a:srgbClr val="F6F9FF"/>
                </a:solidFill>
                <a:latin typeface="Aptos"/>
              </a:rPr>
              <a:t>Vehicle history in one place, tire records in another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84448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474720"/>
            <a:ext cx="53035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0">
                <a:solidFill>
                  <a:srgbClr val="F6F9FF"/>
                </a:solidFill>
                <a:latin typeface="Aptos"/>
              </a:rPr>
              <a:t>Workshop jobs and breakdowns tracked separately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15968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206240"/>
            <a:ext cx="53035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0">
                <a:solidFill>
                  <a:srgbClr val="F6F9FF"/>
                </a:solidFill>
                <a:latin typeface="Aptos"/>
              </a:rPr>
              <a:t>Document expiry dates can be easy to miss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965960"/>
            <a:ext cx="4389120" cy="11430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965960"/>
            <a:ext cx="64008" cy="114300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148840"/>
            <a:ext cx="397763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THE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587752"/>
            <a:ext cx="3977639" cy="411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A shared operational view may reduce follow-up friction.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74720"/>
            <a:ext cx="42062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FB05B"/>
                </a:solidFill>
                <a:latin typeface="Aptos"/>
              </a:rPr>
              <a:t>These are customer-discovery hypotheses—not measured market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A centralized workspace for fleet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Fleet &amp; 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96312"/>
            <a:ext cx="3017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Vehicle records and maintenance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Tires &amp; movement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96312"/>
            <a:ext cx="3017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Inventory, serials, transfers and remarks.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874519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0574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Workshop &amp; breakdowns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96312"/>
            <a:ext cx="3017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Job cards and incident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7947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79476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6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97764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16552"/>
            <a:ext cx="3017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Issue/expiry dates and configurable alerts.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9476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379476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97764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Reports &amp; integrations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16552"/>
            <a:ext cx="3017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Operational reporting; validate sync reliability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From record capture to follow-up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2423160" cy="22860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35D3C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6324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6F9FF"/>
                </a:solidFill>
                <a:latin typeface="Aptos"/>
              </a:rPr>
              <a:t>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66160"/>
            <a:ext cx="1965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ABBBD1"/>
                </a:solidFill>
                <a:latin typeface="Aptos"/>
              </a:rPr>
              <a:t>Create or update a vehicle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30632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3683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2240280"/>
            <a:ext cx="2423160" cy="22860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5" y="2468880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35D3C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306324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6F9FF"/>
                </a:solidFill>
                <a:latin typeface="Aptos"/>
              </a:rPr>
              <a:t>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3566160"/>
            <a:ext cx="1965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ABBBD1"/>
                </a:solidFill>
                <a:latin typeface="Aptos"/>
              </a:rPr>
              <a:t>Add a service, tire, job or breakdown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0632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3683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2240280"/>
            <a:ext cx="2423160" cy="22860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2468880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35D3CD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06324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6F9FF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3566160"/>
            <a:ext cx="1965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ABBBD1"/>
                </a:solidFill>
                <a:latin typeface="Aptos"/>
              </a:rPr>
              <a:t>See relevant history in its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3063240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3683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2240280"/>
            <a:ext cx="2423160" cy="22860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91472" y="2468880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35D3CD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306324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6F9FF"/>
                </a:solidFill>
                <a:latin typeface="Aptos"/>
              </a:rPr>
              <a:t>FOLLOW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3566160"/>
            <a:ext cx="1965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ABBBD1"/>
                </a:solidFill>
                <a:latin typeface="Aptos"/>
              </a:rPr>
              <a:t>Use recorded dates to plan next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Designed around practical fleet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71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Preventive 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2971800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Service history and maintenance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2971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Breakdown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50592"/>
            <a:ext cx="2971800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Incident records and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82880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011680"/>
            <a:ext cx="2971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Tire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450592"/>
            <a:ext cx="2971800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Serials, transfers and damage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6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77640"/>
            <a:ext cx="2971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Workshop job 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16552"/>
            <a:ext cx="2971800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Structured workshop work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79476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37947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977640"/>
            <a:ext cx="2971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Expiry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416552"/>
            <a:ext cx="2971800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Configurable vehicle-document reminders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79476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21040" y="37947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977640"/>
            <a:ext cx="2971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Excel / OneDrive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416552"/>
            <a:ext cx="2971800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Integration workflow; reliability to be validated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Who we plan to serve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292607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TRUCKING FLEETS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79192"/>
            <a:ext cx="2926079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Teams coordinating vehicles, service events and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205740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292607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LOGISTICS COMPANIES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79192"/>
            <a:ext cx="2926079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Transport operators needing a consistent operational 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205740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240280"/>
            <a:ext cx="292607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INDEPENDENT WORKSHOPS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79192"/>
            <a:ext cx="2926079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Teams tracking workshop jobs and vehicle visits.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ABBBD1"/>
                </a:solidFill>
                <a:latin typeface="Aptos"/>
              </a:rPr>
              <a:t>Initial geography: Saudi Arabia • International expansion considered after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0">
                <a:solidFill>
                  <a:srgbClr val="FFB05B"/>
                </a:solidFill>
                <a:latin typeface="Aptos"/>
              </a:rPr>
              <a:t>These are target segments, not confirmed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Product direction: operational clarity, not more spreadsheets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6634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F6F9FF"/>
                </a:solidFill>
                <a:latin typeface="Aptos"/>
              </a:rPr>
              <a:t>Fleet Manager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7548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ABBBD1"/>
                </a:solidFill>
                <a:latin typeface="Aptos"/>
              </a:rPr>
              <a:t>A web-based product focused on bringing maintenance, tire, breakdown, workshop and document records into one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4572000" cy="100584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64008" cy="100584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160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LIVE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96312"/>
            <a:ext cx="4160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fleetinspections.tech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54680"/>
            <a:ext cx="4572000" cy="100584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3154680"/>
            <a:ext cx="64008" cy="100584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337560"/>
            <a:ext cx="4160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NEXT PROOF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76472"/>
            <a:ext cx="4160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Run guided pilots against real fleet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34840"/>
            <a:ext cx="4572000" cy="100584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434840"/>
            <a:ext cx="64008" cy="1005840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617720"/>
            <a:ext cx="41605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QUALITY 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056631"/>
            <a:ext cx="4160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Validate imports, sync, date extraction and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Current traction — an honest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514600" cy="19659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031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>
                <a:solidFill>
                  <a:srgbClr val="35D3CD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Unique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44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ABBBD1"/>
                </a:solidFill>
                <a:latin typeface="Aptos"/>
              </a:rPr>
              <a:t>Last 30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48840"/>
            <a:ext cx="2514600" cy="19659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468880"/>
            <a:ext cx="21031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>
                <a:solidFill>
                  <a:srgbClr val="3683FF"/>
                </a:solidFill>
                <a:latin typeface="Aptos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15468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58444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ABBBD1"/>
                </a:solidFill>
                <a:latin typeface="Aptos"/>
              </a:rPr>
              <a:t>Last 30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148840"/>
            <a:ext cx="2514600" cy="19659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21031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>
                <a:solidFill>
                  <a:srgbClr val="FFB05B"/>
                </a:solidFill>
                <a:latin typeface="Aptos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Registered company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8444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ABBBD1"/>
                </a:solidFill>
                <a:latin typeface="Aptos"/>
              </a:rPr>
              <a:t>As supplied by founder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148840"/>
            <a:ext cx="2514600" cy="196596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468880"/>
            <a:ext cx="21031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>
                <a:solidFill>
                  <a:srgbClr val="68E0AD"/>
                </a:solidFill>
                <a:latin typeface="Apto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15468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Co-founders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58444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ABBBD1"/>
                </a:solidFill>
                <a:latin typeface="Aptos"/>
              </a:rPr>
              <a:t>As supplied by 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FFB05B"/>
                </a:solidFill>
                <a:latin typeface="Aptos"/>
              </a:rPr>
              <a:t>Stage: early-stage / pre-revenue. No paying customers or verified savings are claimed.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Business model 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5029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300" b="1">
                <a:solidFill>
                  <a:srgbClr val="F6F9FF"/>
                </a:solidFill>
                <a:latin typeface="Aptos"/>
              </a:rPr>
              <a:t>Subscription tiers by fleet size and workflow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88920"/>
            <a:ext cx="3246120" cy="16459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78892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10712"/>
            <a:ext cx="2834639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Core records for a small fleet.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788920"/>
            <a:ext cx="3246120" cy="16459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78892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971800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410712"/>
            <a:ext cx="2834639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Broader workflows and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788920"/>
            <a:ext cx="3246120" cy="16459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78892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971800"/>
            <a:ext cx="283463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10712"/>
            <a:ext cx="2834639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Larger-team requirements and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FFB05B"/>
                </a:solidFill>
                <a:latin typeface="Aptos"/>
              </a:rPr>
              <a:t>Pricing and willingness to pay are not yet validated.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Go-to-market: learn with guided pilots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84248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874519"/>
            <a:ext cx="96926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F6F9FF"/>
                </a:solidFill>
                <a:latin typeface="Aptos"/>
              </a:rPr>
              <a:t>Interview fleet operators about current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43200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633472"/>
            <a:ext cx="96926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F6F9FF"/>
                </a:solidFill>
                <a:latin typeface="Aptos"/>
              </a:rPr>
              <a:t>Recruit a small number of pilot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02152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392424"/>
            <a:ext cx="96926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F6F9FF"/>
                </a:solidFill>
                <a:latin typeface="Aptos"/>
              </a:rPr>
              <a:t>Agree success criteria before each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261103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4151375"/>
            <a:ext cx="96926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F6F9FF"/>
                </a:solidFill>
                <a:latin typeface="Aptos"/>
              </a:rPr>
              <a:t>Measure usage, task completion and record completeness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20055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910327"/>
            <a:ext cx="96926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0">
                <a:solidFill>
                  <a:srgbClr val="F6F9FF"/>
                </a:solidFill>
                <a:latin typeface="Aptos"/>
              </a:rPr>
              <a:t>Ask for willingness-to-pay feedback before pricing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1">
                <a:solidFill>
                  <a:srgbClr val="35D3CD"/>
                </a:solidFill>
                <a:latin typeface="Aptos"/>
              </a:rPr>
              <a:t>Goal: evidence of repeatable value before scaling acquisition.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Roadmap: validate, harden, then expand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3852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B162A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81051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F6F9FF"/>
                </a:solidFill>
                <a:latin typeface="Aptos"/>
              </a:rPr>
              <a:t>Core workflow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10512"/>
            <a:ext cx="5943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ABBBD1"/>
                </a:solidFill>
                <a:latin typeface="Aptos"/>
              </a:rPr>
              <a:t>Test maintenance, tires, breakdowns, jobs and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8892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9864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B162A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77063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F6F9FF"/>
                </a:solidFill>
                <a:latin typeface="Aptos"/>
              </a:rPr>
              <a:t>Reliability &amp; 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770632"/>
            <a:ext cx="5943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ABBBD1"/>
                </a:solidFill>
                <a:latin typeface="Aptos"/>
              </a:rPr>
              <a:t>Improve error handling, imports, date extraction and integration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49039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587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B162A"/>
                </a:solidFill>
                <a:latin typeface="Aptos"/>
              </a:rPr>
              <a:t>THEN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73075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F6F9FF"/>
                </a:solidFill>
                <a:latin typeface="Aptos"/>
              </a:rPr>
              <a:t>Pilot-to-paid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30752"/>
            <a:ext cx="5943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ABBBD1"/>
                </a:solidFill>
                <a:latin typeface="Aptos"/>
              </a:rPr>
              <a:t>Set support, data handling, backups and success criteria.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0916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6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81888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B162A"/>
                </a:solidFill>
                <a:latin typeface="Aptos"/>
              </a:rP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690872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F6F9FF"/>
                </a:solidFill>
                <a:latin typeface="Aptos"/>
              </a:rPr>
              <a:t>Demand-led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690872"/>
            <a:ext cx="5943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ABBBD1"/>
                </a:solidFill>
                <a:latin typeface="Aptos"/>
              </a:rPr>
              <a:t>Expand where recurring customer demand supports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Risks we are actively validating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03120"/>
            <a:ext cx="46634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PRODUCT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42032"/>
            <a:ext cx="46634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Test date extraction, imports, sync and alert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6634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CUSTOMER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6634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Interview users and test willingness to pay.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79476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77640"/>
            <a:ext cx="46634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TRUST &amp;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16552"/>
            <a:ext cx="46634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Clarify data handling, support and backup practices.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6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40"/>
            <a:ext cx="46634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LEGAL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16552"/>
            <a:ext cx="46634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Confirm lawful business operations before paid scaling.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Our focus: connected records for day-to-day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7548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400" b="1">
                <a:solidFill>
                  <a:srgbClr val="F6F9FF"/>
                </a:solidFill>
                <a:latin typeface="Aptos"/>
              </a:rPr>
              <a:t>The product 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52928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743200"/>
            <a:ext cx="5303520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F6F9FF"/>
                </a:solidFill>
                <a:latin typeface="Aptos"/>
              </a:rPr>
              <a:t>Connect adjacent workflows in one workspace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30168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520440"/>
            <a:ext cx="5303520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F6F9FF"/>
                </a:solidFill>
                <a:latin typeface="Aptos"/>
              </a:rPr>
              <a:t>Keep operational history close to the relevant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407408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297680"/>
            <a:ext cx="5303520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0">
                <a:solidFill>
                  <a:srgbClr val="F6F9FF"/>
                </a:solidFill>
                <a:latin typeface="Aptos"/>
              </a:rPr>
              <a:t>Make follow-up easier through recorded dates and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965960"/>
            <a:ext cx="4160520" cy="306324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9480" y="2331720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7" y="2404872"/>
            <a:ext cx="31089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F6F9FF"/>
                </a:solidFill>
                <a:latin typeface="Aptos"/>
              </a:rPr>
              <a:t>FLEET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926079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2999232"/>
            <a:ext cx="31089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F6F9FF"/>
                </a:solidFill>
                <a:latin typeface="Aptos"/>
              </a:rPr>
              <a:t>TIRES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520439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3593591"/>
            <a:ext cx="31089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F6F9FF"/>
                </a:solidFill>
                <a:latin typeface="Aptos"/>
              </a:rPr>
              <a:t>WORKSHOP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4114800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6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4187952"/>
            <a:ext cx="31089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F6F9FF"/>
                </a:solidFill>
                <a:latin typeface="Aptos"/>
              </a:rPr>
              <a:t>DOCUMENTS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257800"/>
            <a:ext cx="40233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FFB05B"/>
                </a:solidFill>
                <a:latin typeface="Aptos"/>
              </a:rPr>
              <a:t>Positioning hypothesis—not a validated moat.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000" b="1">
                <a:solidFill>
                  <a:srgbClr val="F6F9FF"/>
                </a:solidFill>
                <a:latin typeface="Aptos"/>
              </a:rPr>
              <a:t>What we are looking for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914400" cy="50292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ABBBD1"/>
                </a:solidFill>
                <a:latin typeface="Aptos"/>
              </a:rPr>
              <a:t>FLEET MAINTENANCE • TIRES • WORKSHOP •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ABBBD1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3172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292607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PILOT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53512"/>
            <a:ext cx="2926079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Fleet operators willing to test real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33172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233172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35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514600"/>
            <a:ext cx="292607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INTRODUCTIONS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953512"/>
            <a:ext cx="2926079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Connections to transport and workshop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33172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2331720"/>
            <a:ext cx="64008" cy="2057400"/>
          </a:xfrm>
          <a:prstGeom prst="roundRect">
            <a:avLst>
              <a:gd name="adj" fmla="val 12000"/>
            </a:avLst>
          </a:prstGeom>
          <a:solidFill>
            <a:srgbClr val="FF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514600"/>
            <a:ext cx="292607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F6F9FF"/>
                </a:solidFill>
                <a:latin typeface="Aptos"/>
              </a:rPr>
              <a:t>MENTORSHIP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53512"/>
            <a:ext cx="2926079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ABBBD1"/>
                </a:solidFill>
                <a:latin typeface="Aptos"/>
              </a:rPr>
              <a:t>Product, reliability and go-to-market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ABBBD1"/>
                </a:solidFill>
                <a:latin typeface="Aptos"/>
              </a:rPr>
              <a:t>Success means learning what customers repeatedly use—and what they will pay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35D3CD"/>
                </a:solidFill>
                <a:latin typeface="Aptos"/>
              </a:rPr>
              <a:t>FLEET MANAGER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7724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800" b="1">
                <a:solidFill>
                  <a:srgbClr val="F6F9FF"/>
                </a:solidFill>
                <a:latin typeface="Aptos"/>
              </a:rPr>
              <a:t>Let's make fleet
operations clearer.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31920"/>
            <a:ext cx="6583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700" b="1">
                <a:solidFill>
                  <a:srgbClr val="ABBBD1"/>
                </a:solidFill>
                <a:latin typeface="Aptos"/>
              </a:rPr>
              <a:t>Founder: Alamin Khan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6583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800" b="1">
                <a:solidFill>
                  <a:srgbClr val="35D3CD"/>
                </a:solidFill>
                <a:latin typeface="Aptos"/>
              </a:rPr>
              <a:t>https://fleetinspections.tech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508760"/>
            <a:ext cx="2743200" cy="2743200"/>
          </a:xfrm>
          <a:prstGeom prst="roundRect">
            <a:avLst>
              <a:gd name="adj" fmla="val 12000"/>
            </a:avLst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011680"/>
            <a:ext cx="2103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6F9FF"/>
                </a:solidFill>
                <a:latin typeface="Aptos"/>
              </a:rPr>
              <a:t>FLEET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651760"/>
            <a:ext cx="2103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35D3CD"/>
                </a:solidFill>
                <a:latin typeface="Aptos"/>
              </a:rPr>
              <a:t>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291840"/>
            <a:ext cx="2103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500" b="1">
                <a:solidFill>
                  <a:srgbClr val="F6F9FF"/>
                </a:solidFill>
                <a:latin typeface="Aptos"/>
              </a:rP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263640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00" b="0">
                <a:solidFill>
                  <a:srgbClr val="ABBBD1"/>
                </a:solidFill>
                <a:latin typeface="Aptos"/>
              </a:rPr>
              <a:t>Early-stage • Pre-revenue • Prepared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